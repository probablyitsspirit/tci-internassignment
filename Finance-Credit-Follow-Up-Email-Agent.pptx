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1"/>
      <p:bold r:id="rId12"/>
    </p:embeddedFont>
    <p:embeddedFont>
      <p:font typeface="Saira Light" pitchFamily="2" charset="0"/>
      <p:regular r:id="rId13"/>
    </p:embeddedFont>
    <p:embeddedFont>
      <p:font typeface="Saira Medium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337"/>
    <a:srgbClr val="E58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2" d="100"/>
          <a:sy n="142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389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927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0799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673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324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115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678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663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826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515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1582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6869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472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2398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278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369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586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685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999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73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506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obablyspirit.dev/" TargetMode="External"/><Relationship Id="rId7" Type="http://schemas.openxmlformats.org/officeDocument/2006/relationships/hyperlink" Target="https://www.kaggle.com/sharduldhekan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ProbablyItsSpirit" TargetMode="External"/><Relationship Id="rId5" Type="http://schemas.openxmlformats.org/officeDocument/2006/relationships/hyperlink" Target="https://probablyspirit.dev/Shardul_Dhekane.pdf" TargetMode="External"/><Relationship Id="rId4" Type="http://schemas.openxmlformats.org/officeDocument/2006/relationships/hyperlink" Target="mailto:shardulmd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96119" y="1554361"/>
            <a:ext cx="2126057" cy="266402"/>
          </a:xfrm>
          <a:prstGeom prst="roundRect">
            <a:avLst>
              <a:gd name="adj" fmla="val 38315"/>
            </a:avLst>
          </a:prstGeom>
          <a:solidFill>
            <a:srgbClr val="4B1E0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596851"/>
            <a:ext cx="252286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INTERNSHIP APPLICATION PROJECT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87746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Finance Credit Follow-Up Email Agent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2976042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System for Accounts Receivable Automation Platform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362325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Shardul Dhekane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A88DA6-7F14-92A8-B200-2DB86EC926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42" r="23309"/>
          <a:stretch/>
        </p:blipFill>
        <p:spPr>
          <a:xfrm>
            <a:off x="6445020" y="1526987"/>
            <a:ext cx="1978560" cy="2089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295044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Collections Problem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3364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finance teams rely on manual, error prone processes for payment follow-ups: Causing delays, inconsistent messaging, and zero audit visibility.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 4"/>
          <p:cNvSpPr/>
          <p:nvPr/>
        </p:nvSpPr>
        <p:spPr>
          <a:xfrm>
            <a:off x="4869805" y="223301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834C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Manual Follow-Ups</a:t>
            </a:r>
            <a:endParaRPr lang="en-US" sz="1000" dirty="0">
              <a:solidFill>
                <a:srgbClr val="E5834C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4869805" y="2478807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Hours spent drafting repetitive payment reminders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678885" y="2233017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834C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Inconsistent Tone</a:t>
            </a:r>
            <a:endParaRPr lang="en-US" sz="1000" dirty="0">
              <a:solidFill>
                <a:srgbClr val="E5834C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678885" y="2478807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can sound rude or a company might sound like “</a:t>
            </a:r>
            <a:r>
              <a:rPr lang="en-US" sz="8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Vasooli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”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869805" y="309726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834C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Zero Audit Trail</a:t>
            </a:r>
            <a:endParaRPr lang="en-US" sz="1000" dirty="0">
              <a:solidFill>
                <a:srgbClr val="E5834C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69805" y="3343052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persistence or tracking of communication history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678885" y="3097262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5834C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Human Error</a:t>
            </a:r>
            <a:endParaRPr lang="en-US" sz="1000" dirty="0">
              <a:solidFill>
                <a:srgbClr val="E5834C"/>
              </a:solidFill>
            </a:endParaRPr>
          </a:p>
        </p:txBody>
      </p:sp>
      <p:sp>
        <p:nvSpPr>
          <p:cNvPr id="21" name="Text 17"/>
          <p:cNvSpPr/>
          <p:nvPr/>
        </p:nvSpPr>
        <p:spPr>
          <a:xfrm>
            <a:off x="6678885" y="3343052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Misaddressed emails, missed deadlines, duplicate sends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3684" y="293340"/>
            <a:ext cx="1882825" cy="235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Proposed Solution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684" y="837977"/>
            <a:ext cx="5196632" cy="23781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80231" y="1166382"/>
            <a:ext cx="1198476" cy="143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NVIDIA LLM + Delivery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80231" y="1350947"/>
            <a:ext cx="1267050" cy="17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Contextual email gen; SMTP delivery, scheduling, logging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111917" y="1948069"/>
            <a:ext cx="1149541" cy="143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Agent Layer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96590" y="2132635"/>
            <a:ext cx="1164868" cy="17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orchestration and JSON parsing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80231" y="2351686"/>
            <a:ext cx="1149541" cy="143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80231" y="2536252"/>
            <a:ext cx="1267050" cy="175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input, invoice selection, approval gates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73684" y="3490466"/>
            <a:ext cx="2578298" cy="659829"/>
          </a:xfrm>
          <a:prstGeom prst="roundRect">
            <a:avLst>
              <a:gd name="adj" fmla="val 10273"/>
            </a:avLst>
          </a:prstGeom>
          <a:solidFill>
            <a:srgbClr val="030303"/>
          </a:solidFill>
          <a:ln w="4763">
            <a:solidFill>
              <a:srgbClr val="FC833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53754" y="3570536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FC833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5889" y="3632597"/>
            <a:ext cx="101650" cy="1016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53754" y="3836417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Email Generation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053754" y="3978027"/>
            <a:ext cx="2418159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Contextual, stage-aware messaging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591943" y="3490466"/>
            <a:ext cx="2578373" cy="659829"/>
          </a:xfrm>
          <a:prstGeom prst="roundRect">
            <a:avLst>
              <a:gd name="adj" fmla="val 10273"/>
            </a:avLst>
          </a:prstGeom>
          <a:solidFill>
            <a:srgbClr val="030303"/>
          </a:solidFill>
          <a:ln w="4763">
            <a:solidFill>
              <a:srgbClr val="FC833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72013" y="3570536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FC8337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34148" y="3632597"/>
            <a:ext cx="101650" cy="1016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72013" y="3836417"/>
            <a:ext cx="1019994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Scheduling Automation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672013" y="3978027"/>
            <a:ext cx="2418234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Timed follow-ups with persistence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1973684" y="4190256"/>
            <a:ext cx="2578298" cy="659829"/>
          </a:xfrm>
          <a:prstGeom prst="roundRect">
            <a:avLst>
              <a:gd name="adj" fmla="val 10273"/>
            </a:avLst>
          </a:prstGeom>
          <a:solidFill>
            <a:srgbClr val="030303"/>
          </a:solidFill>
          <a:ln w="4763">
            <a:solidFill>
              <a:srgbClr val="FC833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053754" y="4270325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FC8337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15889" y="4332387"/>
            <a:ext cx="101650" cy="1016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053754" y="4536207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Human Approval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2053754" y="4677817"/>
            <a:ext cx="2418159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before live send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4591943" y="4190256"/>
            <a:ext cx="2578373" cy="659829"/>
          </a:xfrm>
          <a:prstGeom prst="roundRect">
            <a:avLst>
              <a:gd name="adj" fmla="val 10273"/>
            </a:avLst>
          </a:prstGeom>
          <a:solidFill>
            <a:srgbClr val="030303"/>
          </a:solidFill>
          <a:ln w="4763">
            <a:solidFill>
              <a:srgbClr val="FC833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72013" y="4270325"/>
            <a:ext cx="225921" cy="225921"/>
          </a:xfrm>
          <a:prstGeom prst="roundRect">
            <a:avLst>
              <a:gd name="adj" fmla="val 25293924"/>
            </a:avLst>
          </a:prstGeom>
          <a:solidFill>
            <a:srgbClr val="FC8337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34148" y="4332387"/>
            <a:ext cx="101650" cy="1016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72013" y="4536207"/>
            <a:ext cx="941412" cy="117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 Analytics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4672013" y="4677817"/>
            <a:ext cx="2418234" cy="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tracking &amp; audit logs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3845"/>
            <a:ext cx="32672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Technology Stack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53182"/>
            <a:ext cx="8229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modern, production-grade stack built for observability, reliability, and structured AI output.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349" y="1389534"/>
            <a:ext cx="261342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349" y="180141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Python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349" y="2077789"/>
            <a:ext cx="40393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orchestration, prompt engineering, regex JSON extraction fallback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233" y="1389534"/>
            <a:ext cx="261342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7233" y="180141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47233" y="2077789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UI with invoice tables, scheduling controls, and analytics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349" y="2720429"/>
            <a:ext cx="261342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349" y="3132311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SQLite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57349" y="3408685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audit logging, scheduling state, and invoice records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7233" y="2720429"/>
            <a:ext cx="261342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7233" y="3132311"/>
            <a:ext cx="167520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NVIDIA Llama 3.3 70B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47233" y="3408685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JSON output via API with prompt-engineered finance tone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349" y="3850481"/>
            <a:ext cx="261342" cy="2613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349" y="426236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SMTP / Gmail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57349" y="4538737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email delivery with retry logic and dry-run sandbox mode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7233" y="3850481"/>
            <a:ext cx="261342" cy="2613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7233" y="4262363"/>
            <a:ext cx="213181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LangSmith + Pandas + Altair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47233" y="4538737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observability tracing, data manipulation, and interactive charts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70942"/>
            <a:ext cx="385435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AI Workflow &amp; Prompt Engineering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5875" y="728588"/>
            <a:ext cx="1303511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Stage-Based Escalation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85875" y="941412"/>
            <a:ext cx="316996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adapts tone and urgency across five escalation stages, ensuring professional, human-like communication that escalates appropriately when payments remain unresolved.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92923" y="728588"/>
            <a:ext cx="169835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Prompt Engineering Highlights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92923" y="941412"/>
            <a:ext cx="3169965" cy="177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JSON outputs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LLM returns parseable, validated email objects</a:t>
            </a: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endParaRPr lang="en-US" sz="8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Regex fallback extraction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Handles malformed LLM responses gracefully</a:t>
            </a: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endParaRPr lang="en-US" sz="8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Iterative prompt tuning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Refined through LangSmith trace analysis</a:t>
            </a: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endParaRPr lang="en-US" sz="8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Tone adaptation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Stage-aware language calibrated for finance context</a:t>
            </a:r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endParaRPr lang="en-US" sz="80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Parsing reliability</a:t>
            </a: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Multi-layer validation ensures output consistency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692923" y="2957316"/>
            <a:ext cx="3169965" cy="447824"/>
          </a:xfrm>
          <a:prstGeom prst="roundRect">
            <a:avLst>
              <a:gd name="adj" fmla="val 19143"/>
            </a:avLst>
          </a:prstGeom>
          <a:solidFill>
            <a:srgbClr val="022349"/>
          </a:solidFill>
          <a:ln/>
        </p:spPr>
        <p:txBody>
          <a:bodyPr anchor="ctr"/>
          <a:lstStyle/>
          <a:p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prompt iteration is traced in </a:t>
            </a:r>
            <a:r>
              <a:rPr lang="en-US" sz="9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LangSmith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full reproducibility and debugging.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42123" y="2436195"/>
            <a:ext cx="2765152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8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589934"/>
            <a:ext cx="476250" cy="571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6121" y="2685184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Stage 1 — Friendly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826121" y="2872410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Warm reminder, assumes good faith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3161434"/>
            <a:ext cx="476250" cy="571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6121" y="3256684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Stage 2 — Firm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826121" y="3443910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deadline, professional tone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875" y="3732934"/>
            <a:ext cx="476250" cy="571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26121" y="3828184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Stage 3 — Serious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826121" y="4015410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Urgent language, escalation notice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" y="4300984"/>
            <a:ext cx="476250" cy="571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826121" y="4399684"/>
            <a:ext cx="182441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Stage 4 — Human / Legal Review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826121" y="4586910"/>
            <a:ext cx="60320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Handoff to collections team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07553"/>
            <a:ext cx="4050506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Dashboard &amp; Platform Features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26666"/>
            <a:ext cx="76421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 Streamlit interface giving finance teams full visibility and control over every collection action.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898579" y="1179091"/>
            <a:ext cx="2499122" cy="825029"/>
          </a:xfrm>
          <a:prstGeom prst="roundRect">
            <a:avLst>
              <a:gd name="adj" fmla="val 1208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12867" y="1193378"/>
            <a:ext cx="442987" cy="796454"/>
          </a:xfrm>
          <a:prstGeom prst="roundRect">
            <a:avLst>
              <a:gd name="adj" fmla="val 18632"/>
            </a:avLst>
          </a:prstGeom>
          <a:solidFill>
            <a:srgbClr val="03030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46515" y="1508522"/>
            <a:ext cx="166092" cy="1660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2323" y="1304106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Invoice Management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42323" y="1563588"/>
            <a:ext cx="18303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Filterable invoice table with client selection and selective send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898579" y="2090589"/>
            <a:ext cx="2499122" cy="825029"/>
          </a:xfrm>
          <a:prstGeom prst="roundRect">
            <a:avLst>
              <a:gd name="adj" fmla="val 1208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912867" y="2104876"/>
            <a:ext cx="442987" cy="796454"/>
          </a:xfrm>
          <a:prstGeom prst="roundRect">
            <a:avLst>
              <a:gd name="adj" fmla="val 18632"/>
            </a:avLst>
          </a:prstGeom>
          <a:solidFill>
            <a:srgbClr val="03030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6515" y="2420020"/>
            <a:ext cx="166092" cy="1660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2323" y="2215604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Scheduling &amp; Retry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42323" y="2475086"/>
            <a:ext cx="18303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scheduling with automatic retry logic for failed sends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898579" y="3002087"/>
            <a:ext cx="2499122" cy="825029"/>
          </a:xfrm>
          <a:prstGeom prst="roundRect">
            <a:avLst>
              <a:gd name="adj" fmla="val 1208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12867" y="3016374"/>
            <a:ext cx="442987" cy="796454"/>
          </a:xfrm>
          <a:prstGeom prst="roundRect">
            <a:avLst>
              <a:gd name="adj" fmla="val 18632"/>
            </a:avLst>
          </a:prstGeom>
          <a:solidFill>
            <a:srgbClr val="03030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6515" y="3331518"/>
            <a:ext cx="166092" cy="1660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2323" y="3127102"/>
            <a:ext cx="146871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Human Approval Mode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442323" y="3386584"/>
            <a:ext cx="18303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Dry-run sandbox lets reviewers approve before live delivery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898579" y="3913584"/>
            <a:ext cx="2499122" cy="825029"/>
          </a:xfrm>
          <a:prstGeom prst="roundRect">
            <a:avLst>
              <a:gd name="adj" fmla="val 12082"/>
            </a:avLst>
          </a:prstGeom>
          <a:solidFill>
            <a:srgbClr val="030303">
              <a:alpha val="75000"/>
            </a:srgbClr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12867" y="3927872"/>
            <a:ext cx="442987" cy="796454"/>
          </a:xfrm>
          <a:prstGeom prst="roundRect">
            <a:avLst>
              <a:gd name="adj" fmla="val 18632"/>
            </a:avLst>
          </a:prstGeom>
          <a:solidFill>
            <a:srgbClr val="03030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46515" y="4243015"/>
            <a:ext cx="166092" cy="1660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42323" y="4038600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Audit Trail Logs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6442323" y="4298082"/>
            <a:ext cx="18303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persistence of every email, timestamp, and escalation decision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7651"/>
            <a:ext cx="4044330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Results &amp; Demo Highlights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26988"/>
            <a:ext cx="8229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was validated end-to-end with real SMTP delivery, live database updates, and full LangSmith observability tracing.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349" y="1428676"/>
            <a:ext cx="4039344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100%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660178" y="201557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Email Delivery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349" y="2291953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SMTP sends with retry logic confirmed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47233" y="1428676"/>
            <a:ext cx="4039419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</a:t>
            </a:r>
            <a:endParaRPr lang="en-US" sz="3350" dirty="0"/>
          </a:p>
        </p:txBody>
      </p:sp>
      <p:sp>
        <p:nvSpPr>
          <p:cNvPr id="8" name="Text 6"/>
          <p:cNvSpPr/>
          <p:nvPr/>
        </p:nvSpPr>
        <p:spPr>
          <a:xfrm>
            <a:off x="5850136" y="201557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Escalation Stages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47233" y="2291953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stage transitions with human review gate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349" y="2799085"/>
            <a:ext cx="4039344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0</a:t>
            </a:r>
            <a:endParaRPr lang="en-US" sz="3350" dirty="0"/>
          </a:p>
        </p:txBody>
      </p:sp>
      <p:sp>
        <p:nvSpPr>
          <p:cNvPr id="11" name="Text 9"/>
          <p:cNvSpPr/>
          <p:nvPr/>
        </p:nvSpPr>
        <p:spPr>
          <a:xfrm>
            <a:off x="1660178" y="338598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Manual Drafting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349" y="3662363"/>
            <a:ext cx="403934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AI-generated, context-aware email content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7233" y="2799085"/>
            <a:ext cx="4039419" cy="43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24/7</a:t>
            </a:r>
            <a:endParaRPr lang="en-US" sz="3350" dirty="0"/>
          </a:p>
        </p:txBody>
      </p:sp>
      <p:sp>
        <p:nvSpPr>
          <p:cNvPr id="14" name="Text 12"/>
          <p:cNvSpPr/>
          <p:nvPr/>
        </p:nvSpPr>
        <p:spPr>
          <a:xfrm>
            <a:off x="5850136" y="338598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Scheduling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47233" y="3662363"/>
            <a:ext cx="403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follow-up scheduling with no manual intervention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349" y="3998714"/>
            <a:ext cx="2662758" cy="767135"/>
          </a:xfrm>
          <a:prstGeom prst="roundRect">
            <a:avLst>
              <a:gd name="adj" fmla="val 1533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2307" y="4143673"/>
            <a:ext cx="166181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LangSmith Tracing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2307" y="4420046"/>
            <a:ext cx="23728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prompt and output observability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0584" y="3998714"/>
            <a:ext cx="2662758" cy="767135"/>
          </a:xfrm>
          <a:prstGeom prst="roundRect">
            <a:avLst>
              <a:gd name="adj" fmla="val 1533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5542" y="4143673"/>
            <a:ext cx="17912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Interactive Analytics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85542" y="4420046"/>
            <a:ext cx="23728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Altair charts with live invoice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23818" y="3998714"/>
            <a:ext cx="2662758" cy="767135"/>
          </a:xfrm>
          <a:prstGeom prst="roundRect">
            <a:avLst>
              <a:gd name="adj" fmla="val 15333"/>
            </a:avLst>
          </a:prstGeom>
          <a:solidFill>
            <a:srgbClr val="030303"/>
          </a:solidFill>
          <a:ln w="14288">
            <a:solidFill>
              <a:srgbClr val="FC83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8777" y="414367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Audit Persistence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68777" y="4420046"/>
            <a:ext cx="237284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SQLite-backed immutable action logs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2166" y="373619"/>
            <a:ext cx="3139827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Scope &amp;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2166" y="875021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2166" y="1116644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2166" y="1275443"/>
            <a:ext cx="339104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6" name="Text 4"/>
          <p:cNvSpPr/>
          <p:nvPr/>
        </p:nvSpPr>
        <p:spPr>
          <a:xfrm>
            <a:off x="412166" y="1354917"/>
            <a:ext cx="137293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Multi-Agent Workflows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2166" y="1587387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Specialized agents for risk scoring, negotiation, and legal handoff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2166" y="1877006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2166" y="2035806"/>
            <a:ext cx="339104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0" name="Text 8"/>
          <p:cNvSpPr/>
          <p:nvPr/>
        </p:nvSpPr>
        <p:spPr>
          <a:xfrm>
            <a:off x="412166" y="2115280"/>
            <a:ext cx="131564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ERP / CRM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2166" y="2347750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connectors for SAP, Oracle, and HubSpot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2166" y="2637369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2166" y="2796169"/>
            <a:ext cx="339104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4" name="Text 12"/>
          <p:cNvSpPr/>
          <p:nvPr/>
        </p:nvSpPr>
        <p:spPr>
          <a:xfrm>
            <a:off x="412166" y="2875643"/>
            <a:ext cx="1716435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WhatsApp &amp; SMS Reminders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2166" y="3108113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Multi-channel outreach beyond email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2166" y="3397732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2166" y="3556532"/>
            <a:ext cx="339104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8" name="Text 16"/>
          <p:cNvSpPr/>
          <p:nvPr/>
        </p:nvSpPr>
        <p:spPr>
          <a:xfrm>
            <a:off x="412166" y="3636006"/>
            <a:ext cx="1509192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ML Payment Risk Scoring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2166" y="3868476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models to prioritize collections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2166" y="4158095"/>
            <a:ext cx="203746" cy="12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2166" y="4316895"/>
            <a:ext cx="3391049" cy="14288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2" name="Text 20"/>
          <p:cNvSpPr/>
          <p:nvPr/>
        </p:nvSpPr>
        <p:spPr>
          <a:xfrm>
            <a:off x="412166" y="4396369"/>
            <a:ext cx="161538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Docker + Cloud Deployment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2166" y="4628838"/>
            <a:ext cx="3391049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Containerized, scalable production release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85021" y="875021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215" y="1354917"/>
            <a:ext cx="3334048" cy="777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85021" y="2546138"/>
            <a:ext cx="333404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85021" y="2752041"/>
            <a:ext cx="333404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85020" y="2957945"/>
            <a:ext cx="3794955" cy="1143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00"/>
              </a:lnSpc>
            </a:pPr>
            <a:endParaRPr lang="en-US" sz="100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83A14C5-D480-6C39-B6EF-5A3AD82BD525}"/>
              </a:ext>
            </a:extLst>
          </p:cNvPr>
          <p:cNvSpPr/>
          <p:nvPr/>
        </p:nvSpPr>
        <p:spPr>
          <a:xfrm>
            <a:off x="5400446" y="884587"/>
            <a:ext cx="3005418" cy="3874953"/>
          </a:xfrm>
          <a:prstGeom prst="roundRect">
            <a:avLst>
              <a:gd name="adj" fmla="val 2349"/>
            </a:avLst>
          </a:prstGeom>
          <a:gradFill flip="none" rotWithShape="1">
            <a:gsLst>
              <a:gs pos="0">
                <a:srgbClr val="FC8337">
                  <a:shade val="30000"/>
                  <a:satMod val="115000"/>
                </a:srgbClr>
              </a:gs>
              <a:gs pos="50000">
                <a:srgbClr val="FC8337">
                  <a:shade val="67500"/>
                  <a:satMod val="115000"/>
                </a:srgbClr>
              </a:gs>
              <a:gs pos="100000">
                <a:srgbClr val="FC8337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100"/>
              </a:lnSpc>
            </a:pPr>
            <a:r>
              <a:rPr lang="en-US" sz="14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Shardul Dhekane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Bennett University</a:t>
            </a:r>
          </a:p>
          <a:p>
            <a:pPr marL="0" indent="0" algn="l">
              <a:lnSpc>
                <a:spcPts val="1100"/>
              </a:lnSpc>
              <a:buNone/>
            </a:pP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Portfolio: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https://probablyspirit.dev</a:t>
            </a: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E-Mail: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shardulmd@gmail.com</a:t>
            </a: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Resume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  <a:r>
              <a:rPr lang="en-US" sz="12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</a:t>
            </a:r>
          </a:p>
          <a:p>
            <a:pPr marL="0" indent="0" algn="l">
              <a:lnSpc>
                <a:spcPts val="1100"/>
              </a:lnSpc>
              <a:buNone/>
            </a:pP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endParaRPr lang="en-US" sz="1200" b="1" dirty="0">
              <a:solidFill>
                <a:srgbClr val="000000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</a:t>
            </a:r>
            <a:endParaRPr lang="en-US" sz="1200" dirty="0"/>
          </a:p>
          <a:p>
            <a:pPr algn="ctr"/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625</Words>
  <Application>Microsoft Office PowerPoint</Application>
  <PresentationFormat>On-screen Show (16:9)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Saira Medium</vt:lpstr>
      <vt:lpstr>Saira Light</vt:lpstr>
      <vt:lpstr>Calibri Light</vt:lpstr>
      <vt:lpstr>Roboto</vt:lpstr>
      <vt:lpstr>Arial</vt:lpstr>
      <vt:lpstr>Calibri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Shardul  Dhekane</cp:lastModifiedBy>
  <cp:revision>3</cp:revision>
  <dcterms:created xsi:type="dcterms:W3CDTF">2026-05-11T15:01:02Z</dcterms:created>
  <dcterms:modified xsi:type="dcterms:W3CDTF">2026-05-11T15:33:13Z</dcterms:modified>
</cp:coreProperties>
</file>